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57432" cy="420624"/>
          </a:xfrm>
          <a:prstGeom prst="rect">
            <a:avLst/>
          </a:prstGeom>
          <a:noFill/>
        </p:spPr>
        <p:txBody>
          <a:bodyPr wrap="none" lIns="0" rIns="0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23D32"/>
                </a:solidFill>
                <a:latin typeface="Aptos Display"/>
              </a:rPr>
              <a:t>HOW FINFOLIO GROUPS PORTFOLIO ATTRIBUTION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85216"/>
            <a:ext cx="11000232" cy="274320"/>
          </a:xfrm>
          <a:prstGeom prst="rect">
            <a:avLst/>
          </a:prstGeom>
          <a:noFill/>
        </p:spPr>
        <p:txBody>
          <a:bodyPr wrap="none" lIns="0" rIns="0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B6651"/>
                </a:solidFill>
                <a:latin typeface="Aptos"/>
              </a:rPr>
              <a:t>The same holding-level contributions can be aggregated through alternative, mutually exclusive views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931920" y="1298448"/>
            <a:ext cx="950976" cy="1801368"/>
          </a:xfrm>
          <a:prstGeom prst="line">
            <a:avLst/>
          </a:prstGeom>
          <a:ln w="19050">
            <a:solidFill>
              <a:srgbClr val="2B6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931920" y="2670048"/>
            <a:ext cx="950976" cy="429768"/>
          </a:xfrm>
          <a:prstGeom prst="line">
            <a:avLst/>
          </a:prstGeom>
          <a:ln w="19050">
            <a:solidFill>
              <a:srgbClr val="2B6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3931920" y="3099816"/>
            <a:ext cx="950976" cy="1088136"/>
          </a:xfrm>
          <a:prstGeom prst="line">
            <a:avLst/>
          </a:prstGeom>
          <a:ln w="19050">
            <a:solidFill>
              <a:srgbClr val="2B6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315199" y="1298448"/>
            <a:ext cx="941832" cy="1801368"/>
          </a:xfrm>
          <a:prstGeom prst="line">
            <a:avLst/>
          </a:prstGeom>
          <a:ln w="19050">
            <a:solidFill>
              <a:srgbClr val="2B6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7315199" y="2670048"/>
            <a:ext cx="941832" cy="429768"/>
          </a:xfrm>
          <a:prstGeom prst="line">
            <a:avLst/>
          </a:prstGeom>
          <a:ln w="19050">
            <a:solidFill>
              <a:srgbClr val="2B6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15199" y="3099816"/>
            <a:ext cx="941832" cy="1088136"/>
          </a:xfrm>
          <a:prstGeom prst="line">
            <a:avLst/>
          </a:prstGeom>
          <a:ln w="19050">
            <a:solidFill>
              <a:srgbClr val="2B6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4048" y="987552"/>
            <a:ext cx="3547872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6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1005840"/>
            <a:ext cx="3511296" cy="384048"/>
          </a:xfrm>
          <a:prstGeom prst="rect">
            <a:avLst/>
          </a:prstGeom>
          <a:solidFill>
            <a:srgbClr val="E5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2920" y="1046988"/>
            <a:ext cx="292608" cy="292608"/>
          </a:xfrm>
          <a:prstGeom prst="ellipse">
            <a:avLst/>
          </a:prstGeom>
          <a:solidFill>
            <a:srgbClr val="C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1024128"/>
            <a:ext cx="2926079" cy="329184"/>
          </a:xfrm>
          <a:prstGeom prst="rect">
            <a:avLst/>
          </a:prstGeom>
          <a:noFill/>
        </p:spPr>
        <p:txBody>
          <a:bodyPr wrap="none" lIns="0" rIns="0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23D32"/>
                </a:solidFill>
                <a:latin typeface="Aptos"/>
              </a:rPr>
              <a:t>BY INSTRUMENT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1435608"/>
            <a:ext cx="3145536" cy="164592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D2925"/>
                </a:solidFill>
                <a:latin typeface="Aptos"/>
              </a:rPr>
              <a:t>FPT.VN · HPG.VN · GLD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1847088"/>
            <a:ext cx="3547872" cy="185623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6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2336" y="1865376"/>
            <a:ext cx="3511296" cy="384048"/>
          </a:xfrm>
          <a:prstGeom prst="rect">
            <a:avLst/>
          </a:prstGeom>
          <a:solidFill>
            <a:srgbClr val="E5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2920" y="1906524"/>
            <a:ext cx="292608" cy="292608"/>
          </a:xfrm>
          <a:prstGeom prst="ellipse">
            <a:avLst/>
          </a:prstGeom>
          <a:solidFill>
            <a:srgbClr val="C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1883664"/>
            <a:ext cx="2926079" cy="329184"/>
          </a:xfrm>
          <a:prstGeom prst="rect">
            <a:avLst/>
          </a:prstGeom>
          <a:noFill/>
        </p:spPr>
        <p:txBody>
          <a:bodyPr wrap="none" lIns="0" rIns="0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23D32"/>
                </a:solidFill>
                <a:latin typeface="Aptos"/>
              </a:rPr>
              <a:t>BY ASSET CLASS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" y="2829153"/>
            <a:ext cx="3200400" cy="166878"/>
          </a:xfrm>
          <a:prstGeom prst="roundRect">
            <a:avLst/>
          </a:prstGeom>
          <a:solidFill>
            <a:srgbClr val="F5E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2295144"/>
            <a:ext cx="3145536" cy="1335024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1D2925"/>
                </a:solidFill>
                <a:latin typeface="Aptos"/>
              </a:rPr>
              <a:t>Equity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1D2925"/>
                </a:solidFill>
                <a:latin typeface="Aptos"/>
              </a:rPr>
              <a:t>Equity ETF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D2925"/>
                </a:solidFill>
                <a:latin typeface="Aptos"/>
              </a:rPr>
              <a:t>Commodity Proxy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1D2925"/>
                </a:solidFill>
                <a:latin typeface="Aptos"/>
              </a:rPr>
              <a:t>Bond ETF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1D2925"/>
                </a:solidFill>
                <a:latin typeface="Aptos"/>
              </a:rPr>
              <a:t>Real Estate ETF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1D2925"/>
                </a:solidFill>
                <a:latin typeface="Aptos"/>
              </a:rPr>
              <a:t>Crypto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3867912"/>
            <a:ext cx="3547872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6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2336" y="3886200"/>
            <a:ext cx="3511296" cy="384048"/>
          </a:xfrm>
          <a:prstGeom prst="rect">
            <a:avLst/>
          </a:prstGeom>
          <a:solidFill>
            <a:srgbClr val="E5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2920" y="3927348"/>
            <a:ext cx="292608" cy="292608"/>
          </a:xfrm>
          <a:prstGeom prst="ellipse">
            <a:avLst/>
          </a:prstGeom>
          <a:solidFill>
            <a:srgbClr val="C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904488"/>
            <a:ext cx="2926079" cy="329184"/>
          </a:xfrm>
          <a:prstGeom prst="rect">
            <a:avLst/>
          </a:prstGeom>
          <a:noFill/>
        </p:spPr>
        <p:txBody>
          <a:bodyPr wrap="none" lIns="0" rIns="0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23D32"/>
                </a:solidFill>
                <a:latin typeface="Aptos"/>
              </a:rPr>
              <a:t>BY EXPOSURE GROUP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4315968"/>
            <a:ext cx="3145536" cy="621792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1D2925"/>
                </a:solidFill>
                <a:latin typeface="Aptos"/>
              </a:rPr>
              <a:t>Vietnam Equity · US Equity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1D2925"/>
                </a:solidFill>
                <a:latin typeface="Aptos"/>
              </a:rPr>
              <a:t>Gold · Silver · Oil · Copper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1D2925"/>
                </a:solidFill>
                <a:latin typeface="Aptos"/>
              </a:rPr>
              <a:t>Agriculture · Broad Commodities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57031" y="987552"/>
            <a:ext cx="3547872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6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19" y="1005840"/>
            <a:ext cx="3511296" cy="384048"/>
          </a:xfrm>
          <a:prstGeom prst="rect">
            <a:avLst/>
          </a:prstGeom>
          <a:solidFill>
            <a:srgbClr val="E5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75904" y="1046988"/>
            <a:ext cx="292608" cy="292608"/>
          </a:xfrm>
          <a:prstGeom prst="ellipse">
            <a:avLst/>
          </a:prstGeom>
          <a:solidFill>
            <a:srgbClr val="C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59952" y="1024128"/>
            <a:ext cx="2926079" cy="329184"/>
          </a:xfrm>
          <a:prstGeom prst="rect">
            <a:avLst/>
          </a:prstGeom>
          <a:noFill/>
        </p:spPr>
        <p:txBody>
          <a:bodyPr wrap="none" lIns="0" rIns="0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23D32"/>
                </a:solidFill>
                <a:latin typeface="Aptos"/>
              </a:rPr>
              <a:t>BY CURRENCY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1435608"/>
            <a:ext cx="3145536" cy="164592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D2925"/>
                </a:solidFill>
                <a:latin typeface="Aptos"/>
              </a:rPr>
              <a:t>VND · USD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57031" y="1847088"/>
            <a:ext cx="3547872" cy="185623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6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75319" y="1865376"/>
            <a:ext cx="3511296" cy="384048"/>
          </a:xfrm>
          <a:prstGeom prst="rect">
            <a:avLst/>
          </a:prstGeom>
          <a:solidFill>
            <a:srgbClr val="E5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75904" y="1906524"/>
            <a:ext cx="292608" cy="292608"/>
          </a:xfrm>
          <a:prstGeom prst="ellipse">
            <a:avLst/>
          </a:prstGeom>
          <a:solidFill>
            <a:srgbClr val="C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9952" y="1883664"/>
            <a:ext cx="2926079" cy="329184"/>
          </a:xfrm>
          <a:prstGeom prst="rect">
            <a:avLst/>
          </a:prstGeom>
          <a:noFill/>
        </p:spPr>
        <p:txBody>
          <a:bodyPr wrap="none" lIns="0" rIns="0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23D32"/>
                </a:solidFill>
                <a:latin typeface="Aptos"/>
              </a:rPr>
              <a:t>BY SECTOR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30767" y="2606649"/>
            <a:ext cx="3200400" cy="166878"/>
          </a:xfrm>
          <a:prstGeom prst="roundRect">
            <a:avLst/>
          </a:prstGeom>
          <a:solidFill>
            <a:srgbClr val="F5E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2295144"/>
            <a:ext cx="3145536" cy="1335024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D2925"/>
                </a:solidFill>
                <a:latin typeface="Aptos"/>
              </a:rPr>
              <a:t>Corporate Sectors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D2925"/>
                </a:solidFill>
                <a:latin typeface="Aptos"/>
              </a:rPr>
              <a:t>Precious Metals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D2925"/>
                </a:solidFill>
                <a:latin typeface="Aptos"/>
              </a:rPr>
              <a:t>Energy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D2925"/>
                </a:solidFill>
                <a:latin typeface="Aptos"/>
              </a:rPr>
              <a:t>Industrial / Base Metals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D2925"/>
                </a:solidFill>
                <a:latin typeface="Aptos"/>
              </a:rPr>
              <a:t>Agriculture / Grains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D2925"/>
                </a:solidFill>
                <a:latin typeface="Aptos"/>
              </a:rPr>
              <a:t>Broad Commodities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57031" y="3867912"/>
            <a:ext cx="3547872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6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75319" y="3886200"/>
            <a:ext cx="3511296" cy="384048"/>
          </a:xfrm>
          <a:prstGeom prst="rect">
            <a:avLst/>
          </a:prstGeom>
          <a:solidFill>
            <a:srgbClr val="E5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375904" y="3927348"/>
            <a:ext cx="292608" cy="292608"/>
          </a:xfrm>
          <a:prstGeom prst="ellipse">
            <a:avLst/>
          </a:prstGeom>
          <a:solidFill>
            <a:srgbClr val="C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59952" y="3904488"/>
            <a:ext cx="2926079" cy="329184"/>
          </a:xfrm>
          <a:prstGeom prst="rect">
            <a:avLst/>
          </a:prstGeom>
          <a:noFill/>
        </p:spPr>
        <p:txBody>
          <a:bodyPr wrap="none" lIns="0" rIns="0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23D32"/>
                </a:solidFill>
                <a:latin typeface="Aptos"/>
              </a:rPr>
              <a:t>BY INDUSTRY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30767" y="4526280"/>
            <a:ext cx="3200400" cy="112667"/>
          </a:xfrm>
          <a:prstGeom prst="roundRect">
            <a:avLst/>
          </a:prstGeom>
          <a:solidFill>
            <a:srgbClr val="F5E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4315968"/>
            <a:ext cx="3145536" cy="1051560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1D2925"/>
                </a:solidFill>
                <a:latin typeface="Aptos"/>
              </a:rPr>
              <a:t>Corporate Industries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>
                <a:solidFill>
                  <a:srgbClr val="1D2925"/>
                </a:solidFill>
                <a:latin typeface="Aptos"/>
              </a:rPr>
              <a:t>Monetary Metals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1D2925"/>
                </a:solidFill>
                <a:latin typeface="Aptos"/>
              </a:rPr>
              <a:t>Precious Industrial Metals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1D2925"/>
                </a:solidFill>
                <a:latin typeface="Aptos"/>
              </a:rPr>
              <a:t>Conventional Energy · Natural Gas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1D2925"/>
                </a:solidFill>
                <a:latin typeface="Aptos"/>
              </a:rPr>
              <a:t>Construction &amp; Infrastructure Metals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1D2925"/>
                </a:solidFill>
                <a:latin typeface="Aptos"/>
              </a:rPr>
              <a:t>Grains &amp; Oilseeds · Softs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1D2925"/>
                </a:solidFill>
                <a:latin typeface="Aptos"/>
              </a:rPr>
              <a:t>Commodity Basket</a:t>
            </a:r>
          </a:p>
        </p:txBody>
      </p:sp>
      <p:sp>
        <p:nvSpPr>
          <p:cNvPr id="43" name="Oval 42"/>
          <p:cNvSpPr/>
          <p:nvPr/>
        </p:nvSpPr>
        <p:spPr>
          <a:xfrm>
            <a:off x="4773168" y="2029968"/>
            <a:ext cx="2651760" cy="2139696"/>
          </a:xfrm>
          <a:prstGeom prst="ellipse">
            <a:avLst/>
          </a:prstGeom>
          <a:solidFill>
            <a:srgbClr val="123D32"/>
          </a:solidFill>
          <a:ln w="25400">
            <a:solidFill>
              <a:srgbClr val="C7A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 Display"/>
              </a:rPr>
              <a:t>PORTFOLIO
ATTRIBUTION
Sum of holding
contributions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550408"/>
            <a:ext cx="11183112" cy="219456"/>
          </a:xfrm>
          <a:prstGeom prst="rect">
            <a:avLst/>
          </a:prstGeom>
          <a:noFill/>
        </p:spPr>
        <p:txBody>
          <a:bodyPr wrap="none" lIns="0" rIns="0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7A44B"/>
                </a:solidFill>
                <a:latin typeface="Aptos"/>
              </a:rPr>
              <a:t>COMMODITY DRILL-DOWN EXAMPLE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779008"/>
            <a:ext cx="2176272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7A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" y="5811012"/>
            <a:ext cx="2029967" cy="173736"/>
          </a:xfrm>
          <a:prstGeom prst="rect">
            <a:avLst/>
          </a:prstGeom>
          <a:noFill/>
        </p:spPr>
        <p:txBody>
          <a:bodyPr wrap="none" lIns="0" rIns="0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23D32"/>
                </a:solidFill>
                <a:latin typeface="Aptos"/>
              </a:rPr>
              <a:t>ASSET CLASS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3503" y="6025896"/>
            <a:ext cx="2066543" cy="256032"/>
          </a:xfrm>
          <a:prstGeom prst="roundRect">
            <a:avLst/>
          </a:prstGeom>
          <a:solidFill>
            <a:srgbClr val="F5E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23D32"/>
                </a:solidFill>
                <a:latin typeface="Aptos"/>
              </a:rPr>
              <a:t>Commodity Proxy</a:t>
            </a:r>
          </a:p>
        </p:txBody>
      </p:sp>
      <p:sp>
        <p:nvSpPr>
          <p:cNvPr id="48" name="Chevron 47"/>
          <p:cNvSpPr/>
          <p:nvPr/>
        </p:nvSpPr>
        <p:spPr>
          <a:xfrm>
            <a:off x="3044952" y="5934456"/>
            <a:ext cx="256032" cy="256032"/>
          </a:xfrm>
          <a:prstGeom prst="chevron">
            <a:avLst/>
          </a:prstGeom>
          <a:solidFill>
            <a:srgbClr val="C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319272" y="5779008"/>
            <a:ext cx="2176272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7A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92424" y="5811012"/>
            <a:ext cx="2029967" cy="173736"/>
          </a:xfrm>
          <a:prstGeom prst="rect">
            <a:avLst/>
          </a:prstGeom>
          <a:noFill/>
        </p:spPr>
        <p:txBody>
          <a:bodyPr wrap="none" lIns="0" rIns="0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23D32"/>
                </a:solidFill>
                <a:latin typeface="Aptos"/>
              </a:rPr>
              <a:t>SECTOR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374136" y="6025896"/>
            <a:ext cx="2066543" cy="256032"/>
          </a:xfrm>
          <a:prstGeom prst="roundRect">
            <a:avLst/>
          </a:prstGeom>
          <a:solidFill>
            <a:srgbClr val="F5E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23D32"/>
                </a:solidFill>
                <a:latin typeface="Aptos"/>
              </a:rPr>
              <a:t>Precious Metals</a:t>
            </a:r>
          </a:p>
        </p:txBody>
      </p:sp>
      <p:sp>
        <p:nvSpPr>
          <p:cNvPr id="52" name="Chevron 51"/>
          <p:cNvSpPr/>
          <p:nvPr/>
        </p:nvSpPr>
        <p:spPr>
          <a:xfrm>
            <a:off x="5815583" y="5934456"/>
            <a:ext cx="256032" cy="256032"/>
          </a:xfrm>
          <a:prstGeom prst="chevron">
            <a:avLst/>
          </a:prstGeom>
          <a:solidFill>
            <a:srgbClr val="C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089904" y="5779008"/>
            <a:ext cx="2176272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7A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63056" y="5811012"/>
            <a:ext cx="2029967" cy="173736"/>
          </a:xfrm>
          <a:prstGeom prst="rect">
            <a:avLst/>
          </a:prstGeom>
          <a:noFill/>
        </p:spPr>
        <p:txBody>
          <a:bodyPr wrap="none" lIns="0" rIns="0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23D32"/>
                </a:solidFill>
                <a:latin typeface="Aptos"/>
              </a:rPr>
              <a:t>INDUSTRY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44768" y="6025896"/>
            <a:ext cx="2066543" cy="256032"/>
          </a:xfrm>
          <a:prstGeom prst="roundRect">
            <a:avLst/>
          </a:prstGeom>
          <a:solidFill>
            <a:srgbClr val="F5E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23D32"/>
                </a:solidFill>
                <a:latin typeface="Aptos"/>
              </a:rPr>
              <a:t>Monetary Metals</a:t>
            </a:r>
          </a:p>
        </p:txBody>
      </p:sp>
      <p:sp>
        <p:nvSpPr>
          <p:cNvPr id="56" name="Chevron 55"/>
          <p:cNvSpPr/>
          <p:nvPr/>
        </p:nvSpPr>
        <p:spPr>
          <a:xfrm>
            <a:off x="8586215" y="5934456"/>
            <a:ext cx="256032" cy="256032"/>
          </a:xfrm>
          <a:prstGeom prst="chevron">
            <a:avLst/>
          </a:prstGeom>
          <a:solidFill>
            <a:srgbClr val="C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860536" y="5779008"/>
            <a:ext cx="2176272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7A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33688" y="5811012"/>
            <a:ext cx="2029967" cy="173736"/>
          </a:xfrm>
          <a:prstGeom prst="rect">
            <a:avLst/>
          </a:prstGeom>
          <a:noFill/>
        </p:spPr>
        <p:txBody>
          <a:bodyPr wrap="none" lIns="0" rIns="0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23D32"/>
                </a:solidFill>
                <a:latin typeface="Aptos"/>
              </a:rPr>
              <a:t>INSTRUMENT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15400" y="6025896"/>
            <a:ext cx="2066543" cy="256032"/>
          </a:xfrm>
          <a:prstGeom prst="roundRect">
            <a:avLst/>
          </a:prstGeom>
          <a:solidFill>
            <a:srgbClr val="F5E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23D32"/>
                </a:solidFill>
                <a:latin typeface="Aptos"/>
              </a:rPr>
              <a:t>GLD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2920" y="6473952"/>
            <a:ext cx="11183112" cy="256032"/>
          </a:xfrm>
          <a:prstGeom prst="roundRect">
            <a:avLst/>
          </a:prstGeom>
          <a:solidFill>
            <a:srgbClr val="E5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23D32"/>
                </a:solidFill>
                <a:latin typeface="Aptos"/>
              </a:rPr>
              <a:t>Choose one grouping view at a time. Every view reconciles to total portfolio return and risk.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Finfolio Portfolio Attribution Grouping Mind Map</dc:title>
  <dc:subject>Editable 16:9 slide asset</dc:subject>
  <dc:creator>Finfolio G09</dc:creator>
  <cp:keywords/>
  <dc:description>All diagram components are editable PowerPoint objects. Grouping views aggregate the same mutually exclusive holding-level contributions.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